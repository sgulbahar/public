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984573"/>
            <a:ext cx="6296860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100" b="1" spc="-10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LUMEN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661475" y="3115766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Yapay Zeka Destekli Operasyon Zekası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627761"/>
            <a:ext cx="690644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2000+ sunucu. Milyonlarca log. Tek akıllı platform.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838696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Operasyon Ekipleri Karanlıkta Çalışıyor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50691"/>
            <a:ext cx="378014" cy="3780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5723" y="2409726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Veri Selinde Boğulma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275723" y="2830215"/>
            <a:ext cx="5682612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Her gün milyonlarca log satırı — hangisi gerçekten önemli? Sinyali gürültüden ayırmak neredeyse imkânsız.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99570"/>
            <a:ext cx="378014" cy="3780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23" y="3758605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Geç Kalınan Tespit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275723" y="4179094"/>
            <a:ext cx="5682612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Sorun fark edildiğinde genellikle iş işten geçmiş oluyor. Müdahale süresi kritik iş süreçlerini doğrudan etkiliyor.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048448"/>
            <a:ext cx="378014" cy="3780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5107484"/>
            <a:ext cx="5682612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Kök Nedeni Bulmak Zor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275723" y="5527973"/>
            <a:ext cx="5682612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Binlerce alarm arasında gerçek kök nedeni tespit etmek saatler alıyor. Uzman ekipler değerli zamanını arıyor.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158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Lumen Ne Yapıyor?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93875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Lumen, ham veriyi anlamlı zekaya dönüştürerek operasyon ekiplerinin önünü aydınlatıyor.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799259"/>
            <a:ext cx="353229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Görür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219748"/>
            <a:ext cx="353229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Tüm sistemi tek ekranda izler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3772" y="2252166"/>
            <a:ext cx="3804051" cy="380414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0170" y="3328591"/>
            <a:ext cx="265800" cy="2658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97823" y="2799259"/>
            <a:ext cx="353239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Anlar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997823" y="3219748"/>
            <a:ext cx="353239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Yapay zeka ile anomali tespit eder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72" y="2252166"/>
            <a:ext cx="3804051" cy="3804146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5427" y="3328591"/>
            <a:ext cx="265800" cy="2658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97823" y="4843066"/>
            <a:ext cx="353239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Bağlar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7997823" y="5263555"/>
            <a:ext cx="353239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Olaylar arasındaki ilişkiyi kurar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2252166"/>
            <a:ext cx="3804051" cy="3804146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5427" y="4713883"/>
            <a:ext cx="265800" cy="26580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61475" y="4843066"/>
            <a:ext cx="353229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Açıklar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661475" y="5263555"/>
            <a:ext cx="3532298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Kök nedeni ve çözümü söyler</a:t>
            </a:r>
            <a:endParaRPr lang="en-US" sz="14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3772" y="2252166"/>
            <a:ext cx="3804051" cy="3804146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70170" y="4713883"/>
            <a:ext cx="265800" cy="2658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034"/>
            <a:ext cx="10868745" cy="556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50" b="1" spc="-6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 Katmanlı Yapay Zeka Motoru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93044"/>
            <a:ext cx="4661081" cy="4661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6805" y="3111897"/>
            <a:ext cx="5789666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Her katman bir sonrakini güçlendirir ve eksik kalanı tamamlar. Beş katman birlikte çalıştığında hata payı sıfıra yaklaşır.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746805" y="3710980"/>
            <a:ext cx="5789666" cy="789384"/>
          </a:xfrm>
          <a:prstGeom prst="roundRect">
            <a:avLst>
              <a:gd name="adj" fmla="val 9114"/>
            </a:avLst>
          </a:prstGeom>
          <a:solidFill>
            <a:srgbClr val="002A8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052" y="3924102"/>
            <a:ext cx="214109" cy="1712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3408" y="3893443"/>
            <a:ext cx="5061816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Birlikte hata yapmaz.</a:t>
            </a:r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Katmanlar birbirini doğrular, kör nokta bırakmaz.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41834"/>
            <a:ext cx="6296860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50" b="1" spc="-7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Sorun Olmadan Önce Biliyor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61475" y="1421209"/>
            <a:ext cx="690644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Öne Çıkan Özellik: Disk Dolum Tahmini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67098"/>
            <a:ext cx="6296860" cy="10749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4502" y="2078534"/>
            <a:ext cx="5772402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📅</a:t>
            </a:r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15 Gün Önceden Haber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974502" y="2490688"/>
            <a:ext cx="577240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Hangi sunucunun diski ne zaman dolacak — bugünden biliniyor.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25192"/>
            <a:ext cx="6296860" cy="107493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4502" y="3336627"/>
            <a:ext cx="5772402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📈</a:t>
            </a:r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2000+ Sunucu, Her 6 Saatte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974502" y="3748782"/>
            <a:ext cx="577240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Linear regression ile dolum hızı ve kritik tarih hesaplanıyor.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383286"/>
            <a:ext cx="6296860" cy="10749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4502" y="4594721"/>
            <a:ext cx="5772402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Kriz Değil, Planlı Müdahale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974502" y="5006876"/>
            <a:ext cx="577240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Ekip önceden harekete geçer, acil durum yaşanmaz.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940570" y="5870178"/>
            <a:ext cx="662734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4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Reaktif değil, PROAKTİF operasyon.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5664200"/>
            <a:ext cx="25399" cy="651867"/>
          </a:xfrm>
          <a:prstGeom prst="roundRect">
            <a:avLst>
              <a:gd name="adj" fmla="val 50001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165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50" b="1" spc="-6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Yapay Zeka Soruyu Soruyor, Cevabı Buluyor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293118"/>
            <a:ext cx="1147833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LLM destekli Kök Neden Analizi, saatlerce süren manuel araştırmayı saniyelere indiriyor.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903" y="1624905"/>
            <a:ext cx="9761789" cy="35338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31494" y="4290047"/>
            <a:ext cx="2445424" cy="31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Çıktı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931494" y="3224903"/>
            <a:ext cx="2445424" cy="31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Süreci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31494" y="2148889"/>
            <a:ext cx="2445424" cy="317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spc="-39" kern="0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Girdi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304532"/>
            <a:ext cx="1086874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Yapay zeka, servis topolojisini tarayarak Zabbix alarmlarını ve etkilenen servisleri otomatik olarak tespit eder, ardından kök nedeni ve önerilen aksiyonu raporlar.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1475" y="5822355"/>
            <a:ext cx="10868745" cy="510381"/>
          </a:xfrm>
          <a:prstGeom prst="roundRect">
            <a:avLst>
              <a:gd name="adj" fmla="val 12881"/>
            </a:avLst>
          </a:prstGeom>
          <a:solidFill>
            <a:srgbClr val="002A8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39" y="5991027"/>
            <a:ext cx="195654" cy="1564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057" y="5991027"/>
            <a:ext cx="1081328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Saatlik analiz → Saniyeler içinde.</a:t>
            </a:r>
            <a:pPr algn="l" indent="0" marL="0">
              <a:lnSpc>
                <a:spcPct val="99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Operatör artık aramıyor, aksiyona geçiyor.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Her Şey Birbirine Bağlı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50813"/>
            <a:ext cx="5319083" cy="5319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487" y="3352899"/>
            <a:ext cx="531908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Otomatik Korelasyon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17487" y="3553718"/>
            <a:ext cx="5319083" cy="318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Lumen, log anomalilerinden iş servislerine kadar tüm bağlantıları otomatik olarak kuruyor. Manuel çapraz sorgulama artık tarih oldu.</a:t>
            </a:r>
            <a:endParaRPr lang="en-US" sz="700" dirty="0"/>
          </a:p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Neo4j graph veritabanı ile servis ilişkileri haritalanıyor, incident'lar otomatik korelasyon ile oluşturuluyor.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661475" y="6376194"/>
            <a:ext cx="5410759" cy="475655"/>
          </a:xfrm>
          <a:prstGeom prst="roundRect">
            <a:avLst>
              <a:gd name="adj" fmla="val 8345"/>
            </a:avLst>
          </a:prstGeom>
          <a:solidFill>
            <a:srgbClr val="101620"/>
          </a:solidFill>
          <a:ln w="6350">
            <a:solidFill>
              <a:srgbClr val="002A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2279" y="6477000"/>
            <a:ext cx="520915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273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2279" y="6658868"/>
            <a:ext cx="5209152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Servis izleniyor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119461" y="6376194"/>
            <a:ext cx="5410759" cy="475655"/>
          </a:xfrm>
          <a:prstGeom prst="roundRect">
            <a:avLst>
              <a:gd name="adj" fmla="val 8345"/>
            </a:avLst>
          </a:prstGeom>
          <a:solidFill>
            <a:srgbClr val="101620"/>
          </a:solidFill>
          <a:ln w="6350">
            <a:solidFill>
              <a:srgbClr val="002A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20265" y="6477000"/>
            <a:ext cx="520915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spc="-1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20265" y="6658868"/>
            <a:ext cx="5209152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Farklı kanal analiz ediliyor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34690"/>
            <a:ext cx="6296860" cy="441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50" b="1" spc="-5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Gerçek Veri, Gerçek Etki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61475" y="1122561"/>
            <a:ext cx="6906444" cy="15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Tüm sonuçlar </a:t>
            </a:r>
            <a:pPr algn="l" indent="0" marL="0">
              <a:lnSpc>
                <a:spcPct val="93000"/>
              </a:lnSpc>
              <a:buNone/>
            </a:pPr>
            <a:r>
              <a:rPr lang="en-US" sz="10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Fibabanka üretim ortamından</a:t>
            </a:r>
            <a:pPr algn="l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alınmıştır.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1451967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spc="-7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7K+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61475" y="2041426"/>
            <a:ext cx="6296860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Anomali Tespit Edildi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1475" y="2320727"/>
            <a:ext cx="6296860" cy="15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Son 2,5 ayda tespit edilen anomali sayısı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1475" y="2735560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spc="-7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111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661475" y="3325019"/>
            <a:ext cx="6296860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Servis ML Modeli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3604320"/>
            <a:ext cx="6296860" cy="15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Makine öğrenimi modeli eğitilen servis sayısı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1475" y="4019153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spc="-7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30</a:t>
            </a:r>
            <a:endParaRPr lang="en-US" sz="3500" dirty="0"/>
          </a:p>
        </p:txBody>
      </p:sp>
      <p:sp>
        <p:nvSpPr>
          <p:cNvPr id="12" name="Text 9"/>
          <p:cNvSpPr/>
          <p:nvPr/>
        </p:nvSpPr>
        <p:spPr>
          <a:xfrm>
            <a:off x="661475" y="4608612"/>
            <a:ext cx="6296860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Günlük Disk Tahmini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1475" y="4887913"/>
            <a:ext cx="6296860" cy="15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İleriye dönük disk dolum tahmin süresi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1475" y="5302746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spc="-7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~0s</a:t>
            </a:r>
            <a:endParaRPr lang="en-US" sz="3500" dirty="0"/>
          </a:p>
        </p:txBody>
      </p:sp>
      <p:sp>
        <p:nvSpPr>
          <p:cNvPr id="15" name="Text 12"/>
          <p:cNvSpPr/>
          <p:nvPr/>
        </p:nvSpPr>
        <p:spPr>
          <a:xfrm>
            <a:off x="661475" y="5892205"/>
            <a:ext cx="6296860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spc="-2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LLM RCA Süresi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1475" y="6171505"/>
            <a:ext cx="6296860" cy="15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Saniyeler içinde kök neden analizi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181"/>
            <a:ext cx="10868745" cy="527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b="1" spc="-6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Yapay Zeka Yolculuğumuz Devam Ediyor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68127"/>
            <a:ext cx="11478330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Lumen, her gün daha akıllı ve daha proaktif hale geliyor. Yol haritamız net: insan müdahalesini minimuma indirmek.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86323" y="1721346"/>
            <a:ext cx="19050" cy="3908326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5" name="Shape 3"/>
          <p:cNvSpPr/>
          <p:nvPr/>
        </p:nvSpPr>
        <p:spPr>
          <a:xfrm>
            <a:off x="5444939" y="1894483"/>
            <a:ext cx="48725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6" name="Shape 4"/>
          <p:cNvSpPr/>
          <p:nvPr/>
        </p:nvSpPr>
        <p:spPr>
          <a:xfrm>
            <a:off x="5913141" y="1721346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4010" y="1745655"/>
            <a:ext cx="243576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spc="-3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61475" y="1772047"/>
            <a:ext cx="4622188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🔴</a:t>
            </a:r>
            <a:pPr algn="r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Şimdi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1475" y="2126159"/>
            <a:ext cx="4622188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Anomali tespiti, LLM analizi ve disk dolum tahmini aktif olarak çalışıyor.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9505" y="2823270"/>
            <a:ext cx="48725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1" name="Shape 9"/>
          <p:cNvSpPr/>
          <p:nvPr/>
        </p:nvSpPr>
        <p:spPr>
          <a:xfrm>
            <a:off x="5913141" y="2650133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74010" y="2674441"/>
            <a:ext cx="243576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spc="-3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908032" y="2700834"/>
            <a:ext cx="4622188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🟡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Yakında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908032" y="3054945"/>
            <a:ext cx="4622188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Neo4j + Causal AI ile gerçek kök neden analizi derinleştiriliyor.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44939" y="3637855"/>
            <a:ext cx="48725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13141" y="3464719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74010" y="3489027"/>
            <a:ext cx="243576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spc="-3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1475" y="3515420"/>
            <a:ext cx="4622188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🟢</a:t>
            </a:r>
            <a:pPr algn="r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Gelecek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61475" y="3869531"/>
            <a:ext cx="4622188" cy="39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Otonom düzeltme — self-healing operasyonlar ile insan müdahalesi ortadan kalkıyor.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59505" y="4452541"/>
            <a:ext cx="48725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21" name="Shape 19"/>
          <p:cNvSpPr/>
          <p:nvPr/>
        </p:nvSpPr>
        <p:spPr>
          <a:xfrm>
            <a:off x="5913141" y="4279404"/>
            <a:ext cx="365414" cy="365423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4010" y="4303712"/>
            <a:ext cx="243576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spc="-3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908032" y="4330105"/>
            <a:ext cx="4622188" cy="270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🔵</a:t>
            </a:r>
            <a:pPr algn="l" indent="0" marL="0">
              <a:lnSpc>
                <a:spcPct val="108000"/>
              </a:lnSpc>
              <a:buNone/>
            </a:pPr>
            <a:r>
              <a:rPr lang="en-US" sz="1550" b="1" spc="-32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Vizyon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08032" y="4684216"/>
            <a:ext cx="4622188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Sıfır müdahale gerektiren, tamamen akıllı ve özerk altyapı.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05051" y="5943600"/>
            <a:ext cx="11234754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Hedef: İnsan operatörün reaktif müdahalesi değil, yapay zekanın proaktif yönetimi.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1475" y="5786636"/>
            <a:ext cx="19050" cy="510183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58800"/>
            <a:ext cx="6296860" cy="68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150" b="1" spc="-8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LUMEN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61475" y="1434703"/>
            <a:ext cx="6296860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Bankacılık Altyapısı İçin Üretilmiş Yapay Zeka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61475" y="2620169"/>
            <a:ext cx="3086023" cy="1797447"/>
          </a:xfrm>
          <a:prstGeom prst="roundRect">
            <a:avLst>
              <a:gd name="adj" fmla="val 358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4012" y="2792710"/>
            <a:ext cx="460661" cy="460673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711" y="2919313"/>
            <a:ext cx="207263" cy="2072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4012" y="3378101"/>
            <a:ext cx="2740949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Bankacılığa Özel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34012" y="3702447"/>
            <a:ext cx="2740949" cy="542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Fibabanka'nın iç sistemlerine derin entegre, sektöre özgü kurallarla donatılmış.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872213" y="2620169"/>
            <a:ext cx="3086122" cy="1797447"/>
          </a:xfrm>
          <a:prstGeom prst="roundRect">
            <a:avLst>
              <a:gd name="adj" fmla="val 3589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044750" y="2792710"/>
            <a:ext cx="460661" cy="460673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1449" y="2919313"/>
            <a:ext cx="207263" cy="2072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44750" y="3378101"/>
            <a:ext cx="2741048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Güvenli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044750" y="3702447"/>
            <a:ext cx="2741048" cy="36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Tüm veri kurum içinde kalıyor. LLM bile iç altyapıda çalışıyor, dışarıya çıkmıyor.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61475" y="4542334"/>
            <a:ext cx="6296860" cy="1435695"/>
          </a:xfrm>
          <a:prstGeom prst="roundRect">
            <a:avLst>
              <a:gd name="adj" fmla="val 4493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4012" y="4714875"/>
            <a:ext cx="460661" cy="460673"/>
          </a:xfrm>
          <a:prstGeom prst="ellipse">
            <a:avLst/>
          </a:prstGeom>
          <a:solidFill>
            <a:srgbClr val="487C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0711" y="4841478"/>
            <a:ext cx="207263" cy="2072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4012" y="5300266"/>
            <a:ext cx="5951785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Büyüyen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34012" y="5624612"/>
            <a:ext cx="59517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Her gün daha akıllı, her gün daha proaktif. Veri arttıkça Lumen güçleniyor.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61475" y="6118324"/>
            <a:ext cx="6906444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Veriden aksiyona — yapay zeka ile.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2026-09-29T12:36:14Z</dcterms:created>
  <dcterms:modified xsi:type="dcterms:W3CDTF">2026-09-29T12:36:14Z</dcterms:modified>
</cp:coreProperties>
</file>